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6" r:id="rId2"/>
    <p:sldId id="327" r:id="rId3"/>
    <p:sldId id="323" r:id="rId4"/>
    <p:sldId id="328" r:id="rId5"/>
    <p:sldId id="318" r:id="rId6"/>
    <p:sldId id="341" r:id="rId7"/>
    <p:sldId id="338" r:id="rId8"/>
    <p:sldId id="329" r:id="rId9"/>
    <p:sldId id="330" r:id="rId10"/>
    <p:sldId id="319" r:id="rId11"/>
    <p:sldId id="320" r:id="rId12"/>
    <p:sldId id="331" r:id="rId13"/>
    <p:sldId id="332" r:id="rId14"/>
    <p:sldId id="333" r:id="rId15"/>
    <p:sldId id="334" r:id="rId16"/>
    <p:sldId id="335" r:id="rId17"/>
    <p:sldId id="265" r:id="rId18"/>
    <p:sldId id="266" r:id="rId19"/>
    <p:sldId id="336" r:id="rId20"/>
    <p:sldId id="267" r:id="rId21"/>
    <p:sldId id="337" r:id="rId22"/>
    <p:sldId id="268" r:id="rId23"/>
    <p:sldId id="316" r:id="rId24"/>
    <p:sldId id="343" r:id="rId25"/>
    <p:sldId id="342" r:id="rId26"/>
    <p:sldId id="269" r:id="rId27"/>
    <p:sldId id="270" r:id="rId28"/>
    <p:sldId id="272" r:id="rId29"/>
    <p:sldId id="324" r:id="rId30"/>
    <p:sldId id="339" r:id="rId31"/>
    <p:sldId id="340" r:id="rId32"/>
    <p:sldId id="273"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7C06E3C-4FE9-4BF9-8757-999E5A083E22}" type="datetimeFigureOut">
              <a:rPr lang="en-US" smtClean="0"/>
              <a:pPr/>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C06E3C-4FE9-4BF9-8757-999E5A083E22}" type="datetimeFigureOut">
              <a:rPr lang="en-US" smtClean="0"/>
              <a:pPr/>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C06E3C-4FE9-4BF9-8757-999E5A083E22}" type="datetimeFigureOut">
              <a:rPr lang="en-US" smtClean="0"/>
              <a:pPr/>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7C06E3C-4FE9-4BF9-8757-999E5A083E22}" type="datetimeFigureOut">
              <a:rPr lang="en-US" smtClean="0"/>
              <a:pPr/>
              <a:t>5/23/2024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7C06E3C-4FE9-4BF9-8757-999E5A083E22}" type="datetimeFigureOut">
              <a:rPr lang="en-US" smtClean="0"/>
              <a:pPr/>
              <a:t>5/23/2024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7C06E3C-4FE9-4BF9-8757-999E5A083E22}" type="datetimeFigureOut">
              <a:rPr lang="en-US" smtClean="0"/>
              <a:pPr/>
              <a:t>5/23/2024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C06E3C-4FE9-4BF9-8757-999E5A083E22}" type="datetimeFigureOut">
              <a:rPr lang="en-US" smtClean="0"/>
              <a:pPr/>
              <a:t>5/23/2024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C06E3C-4FE9-4BF9-8757-999E5A083E22}" type="datetimeFigureOut">
              <a:rPr lang="en-US" smtClean="0"/>
              <a:pPr/>
              <a:t>5/23/2024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C06E3C-4FE9-4BF9-8757-999E5A083E22}" type="datetimeFigureOut">
              <a:rPr lang="en-US" smtClean="0"/>
              <a:pPr/>
              <a:t>5/23/2024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C06E3C-4FE9-4BF9-8757-999E5A083E22}" type="datetimeFigureOut">
              <a:rPr lang="en-US" smtClean="0"/>
              <a:pPr/>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C06E3C-4FE9-4BF9-8757-999E5A083E22}" type="datetimeFigureOut">
              <a:rPr lang="en-US" smtClean="0"/>
              <a:pPr/>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67E5B4-383D-4B5B-A6FB-87C481EB6EC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C06E3C-4FE9-4BF9-8757-999E5A083E22}" type="datetimeFigureOut">
              <a:rPr lang="en-US" smtClean="0"/>
              <a:pPr/>
              <a:t>5/23/2024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67E5B4-383D-4B5B-A6FB-87C481EB6EC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304800"/>
            <a:ext cx="6781800" cy="3945124"/>
          </a:xfrm>
          <a:prstGeom prst="rect">
            <a:avLst/>
          </a:prstGeom>
        </p:spPr>
      </p:pic>
    </p:spTree>
    <p:extLst>
      <p:ext uri="{BB962C8B-B14F-4D97-AF65-F5344CB8AC3E}">
        <p14:creationId xmlns:p14="http://schemas.microsoft.com/office/powerpoint/2010/main" val="42017697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201304"/>
            <a:ext cx="6718122" cy="4294496"/>
          </a:xfrm>
          <a:prstGeom prst="rect">
            <a:avLst/>
          </a:prstGeom>
        </p:spPr>
      </p:pic>
    </p:spTree>
    <p:extLst>
      <p:ext uri="{BB962C8B-B14F-4D97-AF65-F5344CB8AC3E}">
        <p14:creationId xmlns:p14="http://schemas.microsoft.com/office/powerpoint/2010/main" val="34399371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000" y="304800"/>
            <a:ext cx="5867400" cy="3792344"/>
          </a:xfrm>
          <a:prstGeom prst="rect">
            <a:avLst/>
          </a:prstGeom>
        </p:spPr>
      </p:pic>
    </p:spTree>
    <p:extLst>
      <p:ext uri="{BB962C8B-B14F-4D97-AF65-F5344CB8AC3E}">
        <p14:creationId xmlns:p14="http://schemas.microsoft.com/office/powerpoint/2010/main" val="33972792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201304"/>
            <a:ext cx="6019800" cy="4133313"/>
          </a:xfrm>
          <a:prstGeom prst="rect">
            <a:avLst/>
          </a:prstGeom>
        </p:spPr>
      </p:pic>
    </p:spTree>
    <p:extLst>
      <p:ext uri="{BB962C8B-B14F-4D97-AF65-F5344CB8AC3E}">
        <p14:creationId xmlns:p14="http://schemas.microsoft.com/office/powerpoint/2010/main" val="30641338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060" y="304800"/>
            <a:ext cx="8858248" cy="2514600"/>
          </a:xfrm>
          <a:prstGeom prst="rect">
            <a:avLst/>
          </a:prstGeom>
        </p:spPr>
      </p:pic>
    </p:spTree>
    <p:extLst>
      <p:ext uri="{BB962C8B-B14F-4D97-AF65-F5344CB8AC3E}">
        <p14:creationId xmlns:p14="http://schemas.microsoft.com/office/powerpoint/2010/main" val="36177883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228600"/>
            <a:ext cx="8077200" cy="4812502"/>
          </a:xfrm>
          <a:prstGeom prst="rect">
            <a:avLst/>
          </a:prstGeom>
        </p:spPr>
      </p:pic>
    </p:spTree>
    <p:extLst>
      <p:ext uri="{BB962C8B-B14F-4D97-AF65-F5344CB8AC3E}">
        <p14:creationId xmlns:p14="http://schemas.microsoft.com/office/powerpoint/2010/main" val="528192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381000"/>
            <a:ext cx="6497045" cy="685800"/>
          </a:xfrm>
          <a:prstGeom prst="rect">
            <a:avLst/>
          </a:prstGeom>
        </p:spPr>
      </p:pic>
      <p:pic>
        <p:nvPicPr>
          <p:cNvPr id="3" name="Picture 2"/>
          <p:cNvPicPr>
            <a:picLocks noChangeAspect="1"/>
          </p:cNvPicPr>
          <p:nvPr/>
        </p:nvPicPr>
        <p:blipFill>
          <a:blip r:embed="rId3"/>
          <a:stretch>
            <a:fillRect/>
          </a:stretch>
        </p:blipFill>
        <p:spPr>
          <a:xfrm>
            <a:off x="329821" y="1083860"/>
            <a:ext cx="6497045" cy="443419"/>
          </a:xfrm>
          <a:prstGeom prst="rect">
            <a:avLst/>
          </a:prstGeom>
        </p:spPr>
      </p:pic>
      <p:pic>
        <p:nvPicPr>
          <p:cNvPr id="4" name="Picture 3"/>
          <p:cNvPicPr>
            <a:picLocks noChangeAspect="1"/>
          </p:cNvPicPr>
          <p:nvPr/>
        </p:nvPicPr>
        <p:blipFill>
          <a:blip r:embed="rId4"/>
          <a:stretch>
            <a:fillRect/>
          </a:stretch>
        </p:blipFill>
        <p:spPr>
          <a:xfrm>
            <a:off x="329820" y="1551162"/>
            <a:ext cx="7671180" cy="433310"/>
          </a:xfrm>
          <a:prstGeom prst="rect">
            <a:avLst/>
          </a:prstGeom>
        </p:spPr>
      </p:pic>
      <p:pic>
        <p:nvPicPr>
          <p:cNvPr id="5" name="Picture 4"/>
          <p:cNvPicPr>
            <a:picLocks noChangeAspect="1"/>
          </p:cNvPicPr>
          <p:nvPr/>
        </p:nvPicPr>
        <p:blipFill>
          <a:blip r:embed="rId5"/>
          <a:stretch>
            <a:fillRect/>
          </a:stretch>
        </p:blipFill>
        <p:spPr>
          <a:xfrm>
            <a:off x="349153" y="2025415"/>
            <a:ext cx="2313811" cy="2470385"/>
          </a:xfrm>
          <a:prstGeom prst="rect">
            <a:avLst/>
          </a:prstGeom>
        </p:spPr>
      </p:pic>
    </p:spTree>
    <p:extLst>
      <p:ext uri="{BB962C8B-B14F-4D97-AF65-F5344CB8AC3E}">
        <p14:creationId xmlns:p14="http://schemas.microsoft.com/office/powerpoint/2010/main" val="1052565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304800"/>
            <a:ext cx="6477000" cy="3773833"/>
          </a:xfrm>
          <a:prstGeom prst="rect">
            <a:avLst/>
          </a:prstGeom>
        </p:spPr>
      </p:pic>
    </p:spTree>
    <p:extLst>
      <p:ext uri="{BB962C8B-B14F-4D97-AF65-F5344CB8AC3E}">
        <p14:creationId xmlns:p14="http://schemas.microsoft.com/office/powerpoint/2010/main" val="14032336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381000"/>
            <a:ext cx="6477000" cy="3711778"/>
          </a:xfrm>
          <a:prstGeom prst="rect">
            <a:avLst/>
          </a:prstGeom>
        </p:spPr>
      </p:pic>
    </p:spTree>
    <p:extLst>
      <p:ext uri="{BB962C8B-B14F-4D97-AF65-F5344CB8AC3E}">
        <p14:creationId xmlns:p14="http://schemas.microsoft.com/office/powerpoint/2010/main" val="34562413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457200"/>
            <a:ext cx="8683924" cy="2438400"/>
          </a:xfrm>
          <a:prstGeom prst="rect">
            <a:avLst/>
          </a:prstGeom>
        </p:spPr>
      </p:pic>
    </p:spTree>
    <p:extLst>
      <p:ext uri="{BB962C8B-B14F-4D97-AF65-F5344CB8AC3E}">
        <p14:creationId xmlns:p14="http://schemas.microsoft.com/office/powerpoint/2010/main" val="39442457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304800"/>
            <a:ext cx="8686800" cy="2006430"/>
          </a:xfrm>
          <a:prstGeom prst="rect">
            <a:avLst/>
          </a:prstGeom>
        </p:spPr>
      </p:pic>
    </p:spTree>
    <p:extLst>
      <p:ext uri="{BB962C8B-B14F-4D97-AF65-F5344CB8AC3E}">
        <p14:creationId xmlns:p14="http://schemas.microsoft.com/office/powerpoint/2010/main" val="33902987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152400"/>
            <a:ext cx="6218620" cy="3810000"/>
          </a:xfrm>
          <a:prstGeom prst="rect">
            <a:avLst/>
          </a:prstGeom>
        </p:spPr>
      </p:pic>
    </p:spTree>
    <p:extLst>
      <p:ext uri="{BB962C8B-B14F-4D97-AF65-F5344CB8AC3E}">
        <p14:creationId xmlns:p14="http://schemas.microsoft.com/office/powerpoint/2010/main" val="4061108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381000"/>
            <a:ext cx="6858000" cy="4027537"/>
          </a:xfrm>
          <a:prstGeom prst="rect">
            <a:avLst/>
          </a:prstGeom>
        </p:spPr>
      </p:pic>
    </p:spTree>
    <p:extLst>
      <p:ext uri="{BB962C8B-B14F-4D97-AF65-F5344CB8AC3E}">
        <p14:creationId xmlns:p14="http://schemas.microsoft.com/office/powerpoint/2010/main" val="40153317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381000"/>
            <a:ext cx="6324600" cy="3688446"/>
          </a:xfrm>
          <a:prstGeom prst="rect">
            <a:avLst/>
          </a:prstGeom>
        </p:spPr>
      </p:pic>
    </p:spTree>
    <p:extLst>
      <p:ext uri="{BB962C8B-B14F-4D97-AF65-F5344CB8AC3E}">
        <p14:creationId xmlns:p14="http://schemas.microsoft.com/office/powerpoint/2010/main" val="3696035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000" y="381000"/>
            <a:ext cx="6629400" cy="3663898"/>
          </a:xfrm>
          <a:prstGeom prst="rect">
            <a:avLst/>
          </a:prstGeom>
        </p:spPr>
      </p:pic>
    </p:spTree>
    <p:extLst>
      <p:ext uri="{BB962C8B-B14F-4D97-AF65-F5344CB8AC3E}">
        <p14:creationId xmlns:p14="http://schemas.microsoft.com/office/powerpoint/2010/main" val="40463783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228599"/>
            <a:ext cx="6400800" cy="4241361"/>
          </a:xfrm>
          <a:prstGeom prst="rect">
            <a:avLst/>
          </a:prstGeom>
        </p:spPr>
      </p:pic>
    </p:spTree>
    <p:extLst>
      <p:ext uri="{BB962C8B-B14F-4D97-AF65-F5344CB8AC3E}">
        <p14:creationId xmlns:p14="http://schemas.microsoft.com/office/powerpoint/2010/main" val="30338832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143250"/>
          </a:xfrm>
        </p:spPr>
        <p:txBody>
          <a:bodyPr>
            <a:normAutofit fontScale="90000"/>
          </a:bodyPr>
          <a:lstStyle/>
          <a:p>
            <a:pPr algn="just"/>
            <a:r>
              <a:rPr lang="en-US" dirty="0" smtClean="0">
                <a:latin typeface="Arial Black" pitchFamily="34" charset="0"/>
              </a:rPr>
              <a:t>Q8. If a man purchases 12 mangoes for Rs. 15 and sells 10 mangoes for Rs.14. How much profit and loss does he make?</a:t>
            </a:r>
            <a:endParaRPr lang="en-US" dirty="0"/>
          </a:p>
        </p:txBody>
      </p:sp>
      <p:sp>
        <p:nvSpPr>
          <p:cNvPr id="3" name="Subtitle 2"/>
          <p:cNvSpPr>
            <a:spLocks noGrp="1"/>
          </p:cNvSpPr>
          <p:nvPr>
            <p:ph type="subTitle" idx="1"/>
          </p:nvPr>
        </p:nvSpPr>
        <p:spPr>
          <a:xfrm>
            <a:off x="609600" y="3886200"/>
            <a:ext cx="7848600" cy="2514600"/>
          </a:xfrm>
        </p:spPr>
        <p:txBody>
          <a:bodyPr/>
          <a:lstStyle/>
          <a:p>
            <a:pPr marL="514350" indent="-514350">
              <a:buAutoNum type="alphaUcPeriod"/>
            </a:pPr>
            <a:r>
              <a:rPr lang="en-US" dirty="0" smtClean="0">
                <a:solidFill>
                  <a:schemeClr val="tx1"/>
                </a:solidFill>
                <a:latin typeface="Arial Black" pitchFamily="34" charset="0"/>
              </a:rPr>
              <a:t>12%                 B. 23%</a:t>
            </a:r>
          </a:p>
          <a:p>
            <a:pPr marL="514350" indent="-514350"/>
            <a:endParaRPr lang="en-US" dirty="0" smtClean="0">
              <a:solidFill>
                <a:schemeClr val="tx1"/>
              </a:solidFill>
              <a:latin typeface="Arial Black" pitchFamily="34" charset="0"/>
            </a:endParaRPr>
          </a:p>
          <a:p>
            <a:pPr marL="514350" indent="-514350"/>
            <a:r>
              <a:rPr lang="en-US" dirty="0" smtClean="0">
                <a:solidFill>
                  <a:schemeClr val="tx1"/>
                </a:solidFill>
                <a:latin typeface="Arial Black" pitchFamily="34" charset="0"/>
              </a:rPr>
              <a:t>C. 45%                  D. 15%</a:t>
            </a:r>
            <a:endParaRPr lang="en-US" dirty="0">
              <a:solidFill>
                <a:schemeClr val="tx1"/>
              </a:solidFill>
              <a:latin typeface="Arial Black"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85801"/>
            <a:ext cx="8458200" cy="2914650"/>
          </a:xfrm>
        </p:spPr>
        <p:txBody>
          <a:bodyPr>
            <a:noAutofit/>
          </a:bodyPr>
          <a:lstStyle/>
          <a:p>
            <a:pPr algn="just"/>
            <a:r>
              <a:rPr lang="en-US" sz="3600" dirty="0" smtClean="0">
                <a:latin typeface="Arial Black" pitchFamily="34" charset="0"/>
              </a:rPr>
              <a:t>Q9. A man buys 10 articles for Rs. 8 and sells them at the rate of Rs. 1.25 per article. What is his gain percent?</a:t>
            </a:r>
            <a:endParaRPr lang="en-US" sz="3600" dirty="0">
              <a:latin typeface="Arial Black" pitchFamily="34" charset="0"/>
            </a:endParaRPr>
          </a:p>
        </p:txBody>
      </p:sp>
      <p:sp>
        <p:nvSpPr>
          <p:cNvPr id="3" name="Subtitle 2"/>
          <p:cNvSpPr>
            <a:spLocks noGrp="1"/>
          </p:cNvSpPr>
          <p:nvPr>
            <p:ph type="subTitle" idx="1"/>
          </p:nvPr>
        </p:nvSpPr>
        <p:spPr>
          <a:xfrm>
            <a:off x="1143000" y="3886200"/>
            <a:ext cx="6858000" cy="2286000"/>
          </a:xfrm>
        </p:spPr>
        <p:txBody>
          <a:bodyPr>
            <a:normAutofit fontScale="92500"/>
          </a:bodyPr>
          <a:lstStyle/>
          <a:p>
            <a:pPr marL="514350" indent="-514350">
              <a:buAutoNum type="alphaUcPeriod"/>
            </a:pPr>
            <a:r>
              <a:rPr lang="en-US" dirty="0" smtClean="0">
                <a:solidFill>
                  <a:schemeClr val="tx1"/>
                </a:solidFill>
                <a:latin typeface="Arial Black" pitchFamily="34" charset="0"/>
              </a:rPr>
              <a:t>55%                       B. 56.25%</a:t>
            </a:r>
          </a:p>
          <a:p>
            <a:pPr marL="514350" indent="-514350"/>
            <a:endParaRPr lang="en-US" dirty="0" smtClean="0">
              <a:solidFill>
                <a:schemeClr val="tx1"/>
              </a:solidFill>
              <a:latin typeface="Arial Black" pitchFamily="34" charset="0"/>
            </a:endParaRPr>
          </a:p>
          <a:p>
            <a:pPr marL="514350" indent="-514350"/>
            <a:r>
              <a:rPr lang="en-US" dirty="0" smtClean="0">
                <a:solidFill>
                  <a:schemeClr val="tx1"/>
                </a:solidFill>
                <a:latin typeface="Arial Black" pitchFamily="34" charset="0"/>
              </a:rPr>
              <a:t>C. 60%                            D. 35%</a:t>
            </a:r>
            <a:endParaRPr lang="en-US" dirty="0">
              <a:solidFill>
                <a:schemeClr val="tx1"/>
              </a:solidFill>
              <a:latin typeface="Arial Black"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228600"/>
            <a:ext cx="5791200" cy="3625795"/>
          </a:xfrm>
          <a:prstGeom prst="rect">
            <a:avLst/>
          </a:prstGeom>
        </p:spPr>
      </p:pic>
    </p:spTree>
    <p:extLst>
      <p:ext uri="{BB962C8B-B14F-4D97-AF65-F5344CB8AC3E}">
        <p14:creationId xmlns:p14="http://schemas.microsoft.com/office/powerpoint/2010/main" val="2741131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143250"/>
          </a:xfrm>
        </p:spPr>
        <p:txBody>
          <a:bodyPr>
            <a:noAutofit/>
          </a:bodyPr>
          <a:lstStyle/>
          <a:p>
            <a:pPr algn="just"/>
            <a:r>
              <a:rPr lang="en-US" sz="3600" dirty="0" smtClean="0">
                <a:latin typeface="Arial Black" pitchFamily="34" charset="0"/>
              </a:rPr>
              <a:t>Q10. I sold  a book at a profit of 12%. Had I sold it for Rs. 18 more, 18% profit would have been gained. Find the cost price?</a:t>
            </a:r>
            <a:endParaRPr lang="en-US" sz="3600" dirty="0">
              <a:latin typeface="Arial Black" pitchFamily="34" charset="0"/>
            </a:endParaRPr>
          </a:p>
        </p:txBody>
      </p:sp>
      <p:sp>
        <p:nvSpPr>
          <p:cNvPr id="3" name="Subtitle 2"/>
          <p:cNvSpPr>
            <a:spLocks noGrp="1"/>
          </p:cNvSpPr>
          <p:nvPr>
            <p:ph type="subTitle" idx="1"/>
          </p:nvPr>
        </p:nvSpPr>
        <p:spPr>
          <a:xfrm>
            <a:off x="914400" y="3886200"/>
            <a:ext cx="7543800" cy="2133600"/>
          </a:xfrm>
        </p:spPr>
        <p:txBody>
          <a:bodyPr/>
          <a:lstStyle/>
          <a:p>
            <a:r>
              <a:rPr lang="en-US" dirty="0" smtClean="0">
                <a:solidFill>
                  <a:schemeClr val="tx1"/>
                </a:solidFill>
                <a:latin typeface="Arial Black" pitchFamily="34" charset="0"/>
              </a:rPr>
              <a:t>A.250                        B. 267</a:t>
            </a:r>
          </a:p>
          <a:p>
            <a:endParaRPr lang="en-US" dirty="0" smtClean="0">
              <a:solidFill>
                <a:schemeClr val="tx1"/>
              </a:solidFill>
              <a:latin typeface="Arial Black" pitchFamily="34" charset="0"/>
            </a:endParaRPr>
          </a:p>
          <a:p>
            <a:r>
              <a:rPr lang="en-US" dirty="0" smtClean="0">
                <a:solidFill>
                  <a:schemeClr val="tx1"/>
                </a:solidFill>
                <a:latin typeface="Arial Black" pitchFamily="34" charset="0"/>
              </a:rPr>
              <a:t>C. 300                        D. 320</a:t>
            </a:r>
            <a:endParaRPr lang="en-US" dirty="0">
              <a:solidFill>
                <a:schemeClr val="tx1"/>
              </a:solidFill>
              <a:latin typeface="Arial Black"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228600"/>
            <a:ext cx="6598227" cy="3886200"/>
          </a:xfrm>
          <a:prstGeom prst="rect">
            <a:avLst/>
          </a:prstGeom>
        </p:spPr>
      </p:pic>
    </p:spTree>
    <p:extLst>
      <p:ext uri="{BB962C8B-B14F-4D97-AF65-F5344CB8AC3E}">
        <p14:creationId xmlns:p14="http://schemas.microsoft.com/office/powerpoint/2010/main" val="22366593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52400"/>
            <a:ext cx="8686800" cy="3448051"/>
          </a:xfrm>
        </p:spPr>
        <p:txBody>
          <a:bodyPr>
            <a:noAutofit/>
          </a:bodyPr>
          <a:lstStyle/>
          <a:p>
            <a:pPr algn="just"/>
            <a:r>
              <a:rPr lang="en-US" sz="3600" dirty="0" smtClean="0">
                <a:latin typeface="Arial Black" pitchFamily="34" charset="0"/>
              </a:rPr>
              <a:t>Q11. A man sold a book at a loss of 7%. Had he been able to sell it at a gain of 9%. It would have fetched Rs. 64 more. Find the cost price?</a:t>
            </a:r>
            <a:br>
              <a:rPr lang="en-US" sz="3600" dirty="0" smtClean="0">
                <a:latin typeface="Arial Black" pitchFamily="34" charset="0"/>
              </a:rPr>
            </a:br>
            <a:endParaRPr lang="en-US" sz="3600" dirty="0">
              <a:latin typeface="Arial Black" pitchFamily="34" charset="0"/>
            </a:endParaRPr>
          </a:p>
        </p:txBody>
      </p:sp>
      <p:sp>
        <p:nvSpPr>
          <p:cNvPr id="3" name="Subtitle 2"/>
          <p:cNvSpPr>
            <a:spLocks noGrp="1"/>
          </p:cNvSpPr>
          <p:nvPr>
            <p:ph type="subTitle" idx="1"/>
          </p:nvPr>
        </p:nvSpPr>
        <p:spPr>
          <a:xfrm>
            <a:off x="609600" y="3505200"/>
            <a:ext cx="7924800" cy="2133600"/>
          </a:xfrm>
        </p:spPr>
        <p:txBody>
          <a:bodyPr/>
          <a:lstStyle/>
          <a:p>
            <a:pPr marL="514350" indent="-514350">
              <a:buAutoNum type="alphaUcPeriod"/>
            </a:pPr>
            <a:r>
              <a:rPr lang="en-US" dirty="0" smtClean="0">
                <a:solidFill>
                  <a:schemeClr val="tx1"/>
                </a:solidFill>
                <a:latin typeface="Arial Black" pitchFamily="34" charset="0"/>
              </a:rPr>
              <a:t>400                      B. 240</a:t>
            </a:r>
          </a:p>
          <a:p>
            <a:pPr marL="514350" indent="-514350"/>
            <a:endParaRPr lang="en-US" dirty="0" smtClean="0">
              <a:solidFill>
                <a:schemeClr val="tx1"/>
              </a:solidFill>
              <a:latin typeface="Arial Black" pitchFamily="34" charset="0"/>
            </a:endParaRPr>
          </a:p>
          <a:p>
            <a:pPr marL="514350" indent="-514350"/>
            <a:r>
              <a:rPr lang="en-US" dirty="0" smtClean="0">
                <a:solidFill>
                  <a:schemeClr val="tx1"/>
                </a:solidFill>
                <a:latin typeface="Arial Black" pitchFamily="34" charset="0"/>
              </a:rPr>
              <a:t>C. 350                      D. 300</a:t>
            </a:r>
            <a:endParaRPr lang="en-US" dirty="0">
              <a:solidFill>
                <a:schemeClr val="tx1"/>
              </a:solidFill>
              <a:latin typeface="Arial Black"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381000"/>
            <a:ext cx="8732397" cy="4038600"/>
          </a:xfrm>
          <a:prstGeom prst="rect">
            <a:avLst/>
          </a:prstGeom>
        </p:spPr>
      </p:pic>
    </p:spTree>
    <p:extLst>
      <p:ext uri="{BB962C8B-B14F-4D97-AF65-F5344CB8AC3E}">
        <p14:creationId xmlns:p14="http://schemas.microsoft.com/office/powerpoint/2010/main" val="9866146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304800"/>
            <a:ext cx="6248400" cy="4202661"/>
          </a:xfrm>
          <a:prstGeom prst="rect">
            <a:avLst/>
          </a:prstGeom>
        </p:spPr>
      </p:pic>
    </p:spTree>
    <p:extLst>
      <p:ext uri="{BB962C8B-B14F-4D97-AF65-F5344CB8AC3E}">
        <p14:creationId xmlns:p14="http://schemas.microsoft.com/office/powerpoint/2010/main" val="1301078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000" y="304800"/>
            <a:ext cx="7650464" cy="609600"/>
          </a:xfrm>
          <a:prstGeom prst="rect">
            <a:avLst/>
          </a:prstGeom>
        </p:spPr>
      </p:pic>
      <p:pic>
        <p:nvPicPr>
          <p:cNvPr id="3" name="Picture 2"/>
          <p:cNvPicPr>
            <a:picLocks noChangeAspect="1"/>
          </p:cNvPicPr>
          <p:nvPr/>
        </p:nvPicPr>
        <p:blipFill>
          <a:blip r:embed="rId3"/>
          <a:stretch>
            <a:fillRect/>
          </a:stretch>
        </p:blipFill>
        <p:spPr>
          <a:xfrm>
            <a:off x="381000" y="926910"/>
            <a:ext cx="7498064" cy="661594"/>
          </a:xfrm>
          <a:prstGeom prst="rect">
            <a:avLst/>
          </a:prstGeom>
        </p:spPr>
      </p:pic>
      <p:pic>
        <p:nvPicPr>
          <p:cNvPr id="4" name="Picture 3"/>
          <p:cNvPicPr>
            <a:picLocks noChangeAspect="1"/>
          </p:cNvPicPr>
          <p:nvPr/>
        </p:nvPicPr>
        <p:blipFill>
          <a:blip r:embed="rId4"/>
          <a:stretch>
            <a:fillRect/>
          </a:stretch>
        </p:blipFill>
        <p:spPr>
          <a:xfrm>
            <a:off x="381000" y="1601014"/>
            <a:ext cx="7162800" cy="608423"/>
          </a:xfrm>
          <a:prstGeom prst="rect">
            <a:avLst/>
          </a:prstGeom>
        </p:spPr>
      </p:pic>
      <p:pic>
        <p:nvPicPr>
          <p:cNvPr id="5" name="Picture 4"/>
          <p:cNvPicPr>
            <a:picLocks noChangeAspect="1"/>
          </p:cNvPicPr>
          <p:nvPr/>
        </p:nvPicPr>
        <p:blipFill>
          <a:blip r:embed="rId5"/>
          <a:stretch>
            <a:fillRect/>
          </a:stretch>
        </p:blipFill>
        <p:spPr>
          <a:xfrm>
            <a:off x="380999" y="2226497"/>
            <a:ext cx="6771539" cy="516703"/>
          </a:xfrm>
          <a:prstGeom prst="rect">
            <a:avLst/>
          </a:prstGeom>
        </p:spPr>
      </p:pic>
      <p:pic>
        <p:nvPicPr>
          <p:cNvPr id="6" name="Picture 5"/>
          <p:cNvPicPr>
            <a:picLocks noChangeAspect="1"/>
          </p:cNvPicPr>
          <p:nvPr/>
        </p:nvPicPr>
        <p:blipFill>
          <a:blip r:embed="rId6"/>
          <a:stretch>
            <a:fillRect/>
          </a:stretch>
        </p:blipFill>
        <p:spPr>
          <a:xfrm>
            <a:off x="352566" y="2728415"/>
            <a:ext cx="2085834" cy="528803"/>
          </a:xfrm>
          <a:prstGeom prst="rect">
            <a:avLst/>
          </a:prstGeom>
        </p:spPr>
      </p:pic>
      <p:pic>
        <p:nvPicPr>
          <p:cNvPr id="7" name="Picture 6"/>
          <p:cNvPicPr>
            <a:picLocks noChangeAspect="1"/>
          </p:cNvPicPr>
          <p:nvPr/>
        </p:nvPicPr>
        <p:blipFill>
          <a:blip r:embed="rId7"/>
          <a:stretch>
            <a:fillRect/>
          </a:stretch>
        </p:blipFill>
        <p:spPr>
          <a:xfrm>
            <a:off x="538113" y="3339977"/>
            <a:ext cx="2273138" cy="2222623"/>
          </a:xfrm>
          <a:prstGeom prst="rect">
            <a:avLst/>
          </a:prstGeom>
        </p:spPr>
      </p:pic>
    </p:spTree>
    <p:extLst>
      <p:ext uri="{BB962C8B-B14F-4D97-AF65-F5344CB8AC3E}">
        <p14:creationId xmlns:p14="http://schemas.microsoft.com/office/powerpoint/2010/main" val="806845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0"/>
            <a:ext cx="8305800" cy="3886200"/>
          </a:xfrm>
        </p:spPr>
        <p:txBody>
          <a:bodyPr>
            <a:noAutofit/>
          </a:bodyPr>
          <a:lstStyle/>
          <a:p>
            <a:pPr algn="l"/>
            <a:r>
              <a:rPr lang="en-US" sz="2800" dirty="0" smtClean="0">
                <a:latin typeface="Arial Black" pitchFamily="34" charset="0"/>
              </a:rPr>
              <a:t>Q12. A man had to sell wheat at a loss of 10%. If he increases the price by Rs. 5/ Kg, he would make a profit of 20%. Find the cost price per Kg of the wheat?</a:t>
            </a:r>
            <a:br>
              <a:rPr lang="en-US" sz="2800" dirty="0" smtClean="0">
                <a:latin typeface="Arial Black" pitchFamily="34" charset="0"/>
              </a:rPr>
            </a:br>
            <a:r>
              <a:rPr lang="en-US" sz="2800" dirty="0">
                <a:latin typeface="Arial Black" pitchFamily="34" charset="0"/>
              </a:rPr>
              <a:t>A. Rs.16(2/3)/Kg         B. Rs15/Kg</a:t>
            </a:r>
            <a:br>
              <a:rPr lang="en-US" sz="2800" dirty="0">
                <a:latin typeface="Arial Black" pitchFamily="34" charset="0"/>
              </a:rPr>
            </a:br>
            <a:r>
              <a:rPr lang="en-US" sz="2800" dirty="0">
                <a:latin typeface="Arial Black" pitchFamily="34" charset="0"/>
              </a:rPr>
              <a:t/>
            </a:r>
            <a:br>
              <a:rPr lang="en-US" sz="2800" dirty="0">
                <a:latin typeface="Arial Black" pitchFamily="34" charset="0"/>
              </a:rPr>
            </a:br>
            <a:r>
              <a:rPr lang="en-US" sz="2800" dirty="0">
                <a:latin typeface="Arial Black" pitchFamily="34" charset="0"/>
              </a:rPr>
              <a:t>C. </a:t>
            </a:r>
            <a:r>
              <a:rPr lang="en-US" sz="2800" dirty="0" err="1">
                <a:latin typeface="Arial Black" pitchFamily="34" charset="0"/>
              </a:rPr>
              <a:t>Rs</a:t>
            </a:r>
            <a:r>
              <a:rPr lang="en-US" sz="2800" dirty="0">
                <a:latin typeface="Arial Black" pitchFamily="34" charset="0"/>
              </a:rPr>
              <a:t>. 18/Kg               D. </a:t>
            </a:r>
            <a:r>
              <a:rPr lang="en-US" sz="2800" dirty="0" err="1">
                <a:latin typeface="Arial Black" pitchFamily="34" charset="0"/>
              </a:rPr>
              <a:t>Rs</a:t>
            </a:r>
            <a:r>
              <a:rPr lang="en-US" sz="2800" dirty="0">
                <a:latin typeface="Arial Black" pitchFamily="34" charset="0"/>
              </a:rPr>
              <a:t>. 22/Kg</a:t>
            </a:r>
            <a:br>
              <a:rPr lang="en-US" sz="2800" dirty="0">
                <a:latin typeface="Arial Black" pitchFamily="34" charset="0"/>
              </a:rPr>
            </a:br>
            <a:endParaRPr lang="en-US" sz="2800" dirty="0">
              <a:latin typeface="Arial Black"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457200"/>
            <a:ext cx="8534400" cy="5486400"/>
          </a:xfrm>
        </p:spPr>
        <p:txBody>
          <a:bodyPr>
            <a:noAutofit/>
          </a:bodyPr>
          <a:lstStyle/>
          <a:p>
            <a:pPr algn="l"/>
            <a:r>
              <a:rPr lang="en-US" sz="3200" dirty="0" smtClean="0">
                <a:latin typeface="Arial Black" pitchFamily="34" charset="0"/>
              </a:rPr>
              <a:t>Q. You buy 10 apples for Rs. 300 and 12 oranges for Rs. 60. You sell the apples for Rs. 350 and the oranges for Rs. 55. What percentage net profit or loss did you make in the entire transaction?</a:t>
            </a:r>
            <a:br>
              <a:rPr lang="en-US" sz="3200" dirty="0" smtClean="0">
                <a:latin typeface="Arial Black" pitchFamily="34" charset="0"/>
              </a:rPr>
            </a:br>
            <a:r>
              <a:rPr lang="en-US" sz="3200" dirty="0" smtClean="0">
                <a:latin typeface="Arial Black" pitchFamily="34" charset="0"/>
              </a:rPr>
              <a:t>A. 45    B. 12.5 </a:t>
            </a:r>
            <a:br>
              <a:rPr lang="en-US" sz="3200" dirty="0" smtClean="0">
                <a:latin typeface="Arial Black" pitchFamily="34" charset="0"/>
              </a:rPr>
            </a:br>
            <a:r>
              <a:rPr lang="en-US" sz="3200" dirty="0" smtClean="0">
                <a:latin typeface="Arial Black" pitchFamily="34" charset="0"/>
              </a:rPr>
              <a:t/>
            </a:r>
            <a:br>
              <a:rPr lang="en-US" sz="3200" dirty="0" smtClean="0">
                <a:latin typeface="Arial Black" pitchFamily="34" charset="0"/>
              </a:rPr>
            </a:br>
            <a:r>
              <a:rPr lang="en-US" sz="3200" dirty="0" smtClean="0">
                <a:latin typeface="Arial Black" pitchFamily="34" charset="0"/>
              </a:rPr>
              <a:t>C. 8.33   D</a:t>
            </a:r>
            <a:r>
              <a:rPr lang="en-US" sz="3200" dirty="0">
                <a:latin typeface="Arial Black" pitchFamily="34" charset="0"/>
              </a:rPr>
              <a:t>. 20</a:t>
            </a:r>
            <a:r>
              <a:rPr lang="en-US" sz="3200" dirty="0" smtClean="0">
                <a:latin typeface="Arial Black" pitchFamily="34" charset="0"/>
              </a:rPr>
              <a:t/>
            </a:r>
            <a:br>
              <a:rPr lang="en-US" sz="3200" dirty="0" smtClean="0">
                <a:latin typeface="Arial Black" pitchFamily="34" charset="0"/>
              </a:rPr>
            </a:br>
            <a:endParaRPr lang="en-US" sz="3200" dirty="0">
              <a:latin typeface="Arial Black"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457200"/>
            <a:ext cx="8382000" cy="4343400"/>
          </a:xfrm>
        </p:spPr>
        <p:txBody>
          <a:bodyPr>
            <a:noAutofit/>
          </a:bodyPr>
          <a:lstStyle/>
          <a:p>
            <a:pPr marL="514350" indent="-514350" algn="l"/>
            <a:r>
              <a:rPr lang="en-US" sz="2800" dirty="0" smtClean="0">
                <a:latin typeface="Arial Black" pitchFamily="34" charset="0"/>
              </a:rPr>
              <a:t>Q. A person bought two watch for Rs. 480.He sold one at a loss of 15% and the other at a gain of 19% and he found that each watch was sold at the same price. Find the cost price of the watch sold at a loss of 15%?</a:t>
            </a:r>
            <a:r>
              <a:rPr lang="en-US" sz="2800" dirty="0">
                <a:latin typeface="Arial Black" pitchFamily="34" charset="0"/>
              </a:rPr>
              <a:t> </a:t>
            </a:r>
            <a:r>
              <a:rPr lang="en-US" sz="2800" dirty="0" smtClean="0">
                <a:latin typeface="Arial Black" pitchFamily="34" charset="0"/>
              </a:rPr>
              <a:t> </a:t>
            </a:r>
            <a:br>
              <a:rPr lang="en-US" sz="2800" dirty="0" smtClean="0">
                <a:latin typeface="Arial Black" pitchFamily="34" charset="0"/>
              </a:rPr>
            </a:br>
            <a:r>
              <a:rPr lang="en-US" sz="2800" dirty="0" smtClean="0">
                <a:latin typeface="Arial Black" pitchFamily="34" charset="0"/>
              </a:rPr>
              <a:t>A. 280                  </a:t>
            </a:r>
            <a:r>
              <a:rPr lang="en-US" sz="2800" dirty="0">
                <a:latin typeface="Arial Black" pitchFamily="34" charset="0"/>
              </a:rPr>
              <a:t>B. 245</a:t>
            </a:r>
            <a:br>
              <a:rPr lang="en-US" sz="2800" dirty="0">
                <a:latin typeface="Arial Black" pitchFamily="34" charset="0"/>
              </a:rPr>
            </a:br>
            <a:r>
              <a:rPr lang="en-US" sz="2800" dirty="0">
                <a:latin typeface="Arial Black" pitchFamily="34" charset="0"/>
              </a:rPr>
              <a:t/>
            </a:r>
            <a:br>
              <a:rPr lang="en-US" sz="2800" dirty="0">
                <a:latin typeface="Arial Black" pitchFamily="34" charset="0"/>
              </a:rPr>
            </a:br>
            <a:r>
              <a:rPr lang="en-US" sz="2800" dirty="0">
                <a:latin typeface="Arial Black" pitchFamily="34" charset="0"/>
              </a:rPr>
              <a:t>C. 300                  D. 423</a:t>
            </a:r>
            <a:br>
              <a:rPr lang="en-US" sz="2800" dirty="0">
                <a:latin typeface="Arial Black" pitchFamily="34" charset="0"/>
              </a:rPr>
            </a:br>
            <a:endParaRPr lang="en-US" sz="28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152400"/>
            <a:ext cx="6553200" cy="4029255"/>
          </a:xfrm>
          <a:prstGeom prst="rect">
            <a:avLst/>
          </a:prstGeom>
        </p:spPr>
      </p:pic>
    </p:spTree>
    <p:extLst>
      <p:ext uri="{BB962C8B-B14F-4D97-AF65-F5344CB8AC3E}">
        <p14:creationId xmlns:p14="http://schemas.microsoft.com/office/powerpoint/2010/main" val="13227950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32931" y="376023"/>
            <a:ext cx="8090588" cy="3814977"/>
          </a:xfrm>
          <a:prstGeom prst="rect">
            <a:avLst/>
          </a:prstGeom>
        </p:spPr>
      </p:pic>
    </p:spTree>
    <p:extLst>
      <p:ext uri="{BB962C8B-B14F-4D97-AF65-F5344CB8AC3E}">
        <p14:creationId xmlns:p14="http://schemas.microsoft.com/office/powerpoint/2010/main" val="402391999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381000"/>
            <a:ext cx="8229600" cy="625826"/>
          </a:xfrm>
          <a:prstGeom prst="rect">
            <a:avLst/>
          </a:prstGeom>
        </p:spPr>
      </p:pic>
      <p:pic>
        <p:nvPicPr>
          <p:cNvPr id="3" name="Picture 2"/>
          <p:cNvPicPr>
            <a:picLocks noChangeAspect="1"/>
          </p:cNvPicPr>
          <p:nvPr/>
        </p:nvPicPr>
        <p:blipFill>
          <a:blip r:embed="rId3"/>
          <a:stretch>
            <a:fillRect/>
          </a:stretch>
        </p:blipFill>
        <p:spPr>
          <a:xfrm>
            <a:off x="258170" y="1143000"/>
            <a:ext cx="7133230" cy="701630"/>
          </a:xfrm>
          <a:prstGeom prst="rect">
            <a:avLst/>
          </a:prstGeom>
        </p:spPr>
      </p:pic>
      <p:pic>
        <p:nvPicPr>
          <p:cNvPr id="4" name="Picture 3"/>
          <p:cNvPicPr>
            <a:picLocks noChangeAspect="1"/>
          </p:cNvPicPr>
          <p:nvPr/>
        </p:nvPicPr>
        <p:blipFill>
          <a:blip r:embed="rId4"/>
          <a:stretch>
            <a:fillRect/>
          </a:stretch>
        </p:blipFill>
        <p:spPr>
          <a:xfrm>
            <a:off x="228600" y="2064744"/>
            <a:ext cx="8610600" cy="526056"/>
          </a:xfrm>
          <a:prstGeom prst="rect">
            <a:avLst/>
          </a:prstGeom>
        </p:spPr>
      </p:pic>
      <p:pic>
        <p:nvPicPr>
          <p:cNvPr id="5" name="Picture 4"/>
          <p:cNvPicPr>
            <a:picLocks noChangeAspect="1"/>
          </p:cNvPicPr>
          <p:nvPr/>
        </p:nvPicPr>
        <p:blipFill>
          <a:blip r:embed="rId5"/>
          <a:stretch>
            <a:fillRect/>
          </a:stretch>
        </p:blipFill>
        <p:spPr>
          <a:xfrm>
            <a:off x="381000" y="2810914"/>
            <a:ext cx="2438400" cy="2781839"/>
          </a:xfrm>
          <a:prstGeom prst="rect">
            <a:avLst/>
          </a:prstGeom>
        </p:spPr>
      </p:pic>
    </p:spTree>
    <p:extLst>
      <p:ext uri="{BB962C8B-B14F-4D97-AF65-F5344CB8AC3E}">
        <p14:creationId xmlns:p14="http://schemas.microsoft.com/office/powerpoint/2010/main" val="17616676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3067050"/>
          </a:xfrm>
        </p:spPr>
        <p:txBody>
          <a:bodyPr>
            <a:noAutofit/>
          </a:bodyPr>
          <a:lstStyle/>
          <a:p>
            <a:pPr algn="just"/>
            <a:r>
              <a:rPr lang="en-US" sz="2800" dirty="0" smtClean="0">
                <a:latin typeface="Arial Black" pitchFamily="34" charset="0"/>
              </a:rPr>
              <a:t>Q. A man buys two horses for Rs. 1350. He sells one so as to loss 6% and the other to gain 7.5%.On the whole he neither gains nor losses. What does each horse cost?</a:t>
            </a:r>
            <a:endParaRPr lang="en-US" sz="2800" dirty="0">
              <a:latin typeface="Arial Black" pitchFamily="34" charset="0"/>
            </a:endParaRPr>
          </a:p>
        </p:txBody>
      </p:sp>
      <p:sp>
        <p:nvSpPr>
          <p:cNvPr id="3" name="Subtitle 2"/>
          <p:cNvSpPr>
            <a:spLocks noGrp="1"/>
          </p:cNvSpPr>
          <p:nvPr>
            <p:ph type="subTitle" idx="1"/>
          </p:nvPr>
        </p:nvSpPr>
        <p:spPr>
          <a:xfrm>
            <a:off x="609600" y="3886200"/>
            <a:ext cx="7924800" cy="2438400"/>
          </a:xfrm>
        </p:spPr>
        <p:txBody>
          <a:bodyPr>
            <a:normAutofit/>
          </a:bodyPr>
          <a:lstStyle/>
          <a:p>
            <a:pPr marL="514350" indent="-514350">
              <a:buAutoNum type="alphaUcPeriod"/>
            </a:pPr>
            <a:r>
              <a:rPr lang="en-US" dirty="0" smtClean="0">
                <a:solidFill>
                  <a:schemeClr val="tx1"/>
                </a:solidFill>
                <a:latin typeface="Arial Black" pitchFamily="34" charset="0"/>
              </a:rPr>
              <a:t>750, 600           B. 560, 800 </a:t>
            </a:r>
          </a:p>
          <a:p>
            <a:pPr marL="514350" indent="-514350"/>
            <a:r>
              <a:rPr lang="en-US" dirty="0" smtClean="0">
                <a:solidFill>
                  <a:schemeClr val="tx1"/>
                </a:solidFill>
                <a:latin typeface="Arial Black" pitchFamily="34" charset="0"/>
              </a:rPr>
              <a:t> </a:t>
            </a:r>
          </a:p>
          <a:p>
            <a:pPr marL="514350" indent="-514350"/>
            <a:r>
              <a:rPr lang="en-US" dirty="0" smtClean="0">
                <a:solidFill>
                  <a:schemeClr val="tx1"/>
                </a:solidFill>
                <a:latin typeface="Arial Black" pitchFamily="34" charset="0"/>
              </a:rPr>
              <a:t>C. 345,  400         D. 372, 500</a:t>
            </a:r>
            <a:endParaRPr lang="en-US" dirty="0">
              <a:solidFill>
                <a:schemeClr val="tx1"/>
              </a:solidFill>
              <a:latin typeface="Arial Black"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1741</TotalTime>
  <Words>390</Words>
  <Application>Microsoft Office PowerPoint</Application>
  <PresentationFormat>On-screen Show (4:3)</PresentationFormat>
  <Paragraphs>23</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Q8. If a man purchases 12 mangoes for Rs. 15 and sells 10 mangoes for Rs.14. How much profit and loss does he make?</vt:lpstr>
      <vt:lpstr>Q9. A man buys 10 articles for Rs. 8 and sells them at the rate of Rs. 1.25 per article. What is his gain percent?</vt:lpstr>
      <vt:lpstr>PowerPoint Presentation</vt:lpstr>
      <vt:lpstr>Q10. I sold  a book at a profit of 12%. Had I sold it for Rs. 18 more, 18% profit would have been gained. Find the cost price?</vt:lpstr>
      <vt:lpstr>PowerPoint Presentation</vt:lpstr>
      <vt:lpstr>Q11. A man sold a book at a loss of 7%. Had he been able to sell it at a gain of 9%. It would have fetched Rs. 64 more. Find the cost price? </vt:lpstr>
      <vt:lpstr>PowerPoint Presentation</vt:lpstr>
      <vt:lpstr>PowerPoint Presentation</vt:lpstr>
      <vt:lpstr>PowerPoint Presentation</vt:lpstr>
      <vt:lpstr>Q12. A man had to sell wheat at a loss of 10%. If he increases the price by Rs. 5/ Kg, he would make a profit of 20%. Find the cost price per Kg of the wheat? A. Rs.16(2/3)/Kg         B. Rs15/Kg  C. Rs. 18/Kg               D. Rs. 22/Kg </vt:lpstr>
      <vt:lpstr>Q. You buy 10 apples for Rs. 300 and 12 oranges for Rs. 60. You sell the apples for Rs. 350 and the oranges for Rs. 55. What percentage net profit or loss did you make in the entire transaction? A. 45    B. 12.5   C. 8.33   D. 20 </vt:lpstr>
      <vt:lpstr>Q. A person bought two watch for Rs. 480.He sold one at a loss of 15% and the other at a gain of 19% and he found that each watch was sold at the same price. Find the cost price of the watch sold at a loss of 15%?   A. 280                  B. 245  C. 300                  D. 423 </vt:lpstr>
      <vt:lpstr>PowerPoint Presentation</vt:lpstr>
      <vt:lpstr>PowerPoint Presentation</vt:lpstr>
      <vt:lpstr>PowerPoint Presentation</vt:lpstr>
      <vt:lpstr>Q. A man buys two horses for Rs. 1350. He sells one so as to loss 6% and the other to gain 7.5%.On the whole he neither gains nor losses. What does each horse cost?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TIT</dc:creator>
  <cp:lastModifiedBy>owner</cp:lastModifiedBy>
  <cp:revision>186</cp:revision>
  <dcterms:created xsi:type="dcterms:W3CDTF">2018-02-21T07:30:46Z</dcterms:created>
  <dcterms:modified xsi:type="dcterms:W3CDTF">2024-05-23T11:49:07Z</dcterms:modified>
</cp:coreProperties>
</file>